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226"/>
        </a:solidFill>
        <a:effectLst/>
      </p:bgPr>
    </p:bg>
    <p:spTree>
      <p:nvGrpSpPr>
        <p:cNvPr id="1" name=""/>
        <p:cNvGrpSpPr/>
        <p:nvPr/>
      </p:nvGrpSpPr>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85800"/>
            <a:ext cx="9875520" cy="640080"/>
          </a:xfrm>
          <a:prstGeom prst="rect">
            <a:avLst/>
          </a:prstGeom>
          <a:noFill/>
        </p:spPr>
        <p:txBody>
          <a:bodyPr wrap="square">
            <a:spAutoFit/>
          </a:bodyPr>
          <a:lstStyle/>
          <a:p>
            <a:pPr algn="l"/>
            <a:r>
              <a:rPr sz="3000" b="1">
                <a:solidFill>
                  <a:srgbClr val="F5F8FC"/>
                </a:solidFill>
                <a:latin typeface="Aptos"/>
              </a:rPr>
              <a:t>MUNICIPAL WASTE COLLECTION</a:t>
            </a:r>
          </a:p>
        </p:txBody>
      </p:sp>
      <p:sp>
        <p:nvSpPr>
          <p:cNvPr id="5" name="TextBox 4"/>
          <p:cNvSpPr txBox="1"/>
          <p:nvPr/>
        </p:nvSpPr>
        <p:spPr>
          <a:xfrm>
            <a:off x="640080" y="1298448"/>
            <a:ext cx="9875520" cy="640080"/>
          </a:xfrm>
          <a:prstGeom prst="rect">
            <a:avLst/>
          </a:prstGeom>
          <a:noFill/>
        </p:spPr>
        <p:txBody>
          <a:bodyPr wrap="square">
            <a:spAutoFit/>
          </a:bodyPr>
          <a:lstStyle/>
          <a:p>
            <a:pPr algn="l"/>
            <a:r>
              <a:rPr sz="3400" b="1">
                <a:solidFill>
                  <a:srgbClr val="31D0E2"/>
                </a:solidFill>
                <a:latin typeface="Aptos"/>
              </a:rPr>
              <a:t>OPTIMIZER</a:t>
            </a:r>
          </a:p>
        </p:txBody>
      </p:sp>
      <p:sp>
        <p:nvSpPr>
          <p:cNvPr id="6" name="TextBox 5"/>
          <p:cNvSpPr txBox="1"/>
          <p:nvPr/>
        </p:nvSpPr>
        <p:spPr>
          <a:xfrm>
            <a:off x="640080" y="1965960"/>
            <a:ext cx="8686800" cy="320040"/>
          </a:xfrm>
          <a:prstGeom prst="rect">
            <a:avLst/>
          </a:prstGeom>
          <a:noFill/>
        </p:spPr>
        <p:txBody>
          <a:bodyPr wrap="square">
            <a:spAutoFit/>
          </a:bodyPr>
          <a:lstStyle/>
          <a:p>
            <a:pPr algn="l"/>
            <a:r>
              <a:rPr sz="1200" b="1">
                <a:solidFill>
                  <a:srgbClr val="A4B4C6"/>
                </a:solidFill>
                <a:latin typeface="Aptos"/>
              </a:rPr>
              <a:t>SMART CITY • IOT • ROUTE OPTIMIZATION</a:t>
            </a:r>
          </a:p>
        </p:txBody>
      </p:sp>
      <p:sp>
        <p:nvSpPr>
          <p:cNvPr id="7" name="Rounded Rectangle 6"/>
          <p:cNvSpPr/>
          <p:nvPr/>
        </p:nvSpPr>
        <p:spPr>
          <a:xfrm>
            <a:off x="640080" y="2788920"/>
            <a:ext cx="8046720" cy="201168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063240"/>
            <a:ext cx="2743200" cy="274320"/>
          </a:xfrm>
          <a:prstGeom prst="rect">
            <a:avLst/>
          </a:prstGeom>
          <a:noFill/>
        </p:spPr>
        <p:txBody>
          <a:bodyPr wrap="square">
            <a:spAutoFit/>
          </a:bodyPr>
          <a:lstStyle/>
          <a:p>
            <a:pPr algn="l"/>
            <a:r>
              <a:rPr sz="1200" b="1">
                <a:solidFill>
                  <a:srgbClr val="31D0E2"/>
                </a:solidFill>
                <a:latin typeface="Aptos"/>
              </a:rPr>
              <a:t>TEAM MEMBERS</a:t>
            </a:r>
          </a:p>
        </p:txBody>
      </p:sp>
      <p:sp>
        <p:nvSpPr>
          <p:cNvPr id="9" name="TextBox 8"/>
          <p:cNvSpPr txBox="1"/>
          <p:nvPr/>
        </p:nvSpPr>
        <p:spPr>
          <a:xfrm>
            <a:off x="914400" y="3456432"/>
            <a:ext cx="7040880" cy="1051560"/>
          </a:xfrm>
          <a:prstGeom prst="rect">
            <a:avLst/>
          </a:prstGeom>
          <a:noFill/>
        </p:spPr>
        <p:txBody>
          <a:bodyPr wrap="square">
            <a:spAutoFit/>
          </a:bodyPr>
          <a:lstStyle/>
          <a:p>
            <a:pPr algn="l"/>
            <a:r>
              <a:rPr sz="1800" b="0">
                <a:solidFill>
                  <a:srgbClr val="F5F8FC"/>
                </a:solidFill>
                <a:latin typeface="Aptos"/>
              </a:rPr>
              <a:t>Member 1 – Roll No. ___
Member 2 – Roll No. ___
Member 3 – Roll No. ___</a:t>
            </a:r>
          </a:p>
        </p:txBody>
      </p:sp>
      <p:sp>
        <p:nvSpPr>
          <p:cNvPr id="10" name="TextBox 9"/>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226"/>
        </a:solidFill>
        <a:effectLst/>
      </p:bgPr>
    </p:bg>
    <p:spTree>
      <p:nvGrpSpPr>
        <p:cNvPr id="1" name=""/>
        <p:cNvGrpSpPr/>
        <p:nvPr/>
      </p:nvGrpSpPr>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WHY OPTIMIZATION MATTERS</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PROBLEM STATEMENT</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1</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Municipal waste collection often relies on fixed routes and schedules, causing unnecessary travel, overflowing bins, missed pickups, fuel consumption, and limited visibility into collection status.</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1226"/>
        </a:solidFill>
        <a:effectLst/>
      </p:bgPr>
    </p:bg>
    <p:spTree>
      <p:nvGrpSpPr>
        <p:cNvPr id="1" name=""/>
        <p:cNvGrpSpPr/>
        <p:nvPr/>
      </p:nvGrpSpPr>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PROJECT CONCEPT</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PROJECT TITLE &amp; INTRODUCTION</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2</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The Municipal Waste Collection Optimizer is a smart city solution that uses bin-level data, route optimization, and a central dashboard to plan efficient collection journeys. It prioritizes bins by fill level, location, urgency, and available vehicle capacity.</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226"/>
        </a:solidFill>
        <a:effectLst/>
      </p:bgPr>
    </p:bg>
    <p:spTree>
      <p:nvGrpSpPr>
        <p:cNvPr id="1" name=""/>
        <p:cNvGrpSpPr/>
        <p:nvPr/>
      </p:nvGrpSpPr>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KEY GOALS</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OBJECTIVES</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3</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 Reduce unnecessary vehicle travel and fuel use
• Prevent overflowing bins through priority-based pickup
• Improve vehicle utilization and collection coverage
• Provide real-time visibility of bin and vehicle status
• Support better municipal planning using collected data</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1226"/>
        </a:solidFill>
        <a:effectLst/>
      </p:bgPr>
    </p:bg>
    <p:spTree>
      <p:nvGrpSpPr>
        <p:cNvPr id="1" name=""/>
        <p:cNvGrpSpPr/>
        <p:nvPr/>
      </p:nvGrpSpPr>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END-TO-END WORKFLOW</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SYSTEM OVERVIEW</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4</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The system connects smart waste bins, GPS-enabled collection vehicles, a communication layer, an optimization engine, and a municipal dashboard. Data flows from field devices to the optimizer, which generates practical collection routes.</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1226"/>
        </a:solidFill>
        <a:effectLst/>
      </p:bgPr>
    </p:bg>
    <p:spTree>
      <p:nvGrpSpPr>
        <p:cNvPr id="1" name=""/>
        <p:cNvGrpSpPr/>
        <p:nvPr/>
      </p:nvGrpSpPr>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IOT DATA LAYER</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SMART BIN MONITORING</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5</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Ultrasonic or fill-level sensors estimate the amount of waste in each bin. Location and status data are transmitted periodically so the municipality can identify bins that need attention instead of checking every location manually.</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1226"/>
        </a:solidFill>
        <a:effectLst/>
      </p:bgPr>
    </p:bg>
    <p:spTree>
      <p:nvGrpSpPr>
        <p:cNvPr id="1" name=""/>
        <p:cNvGrpSpPr/>
        <p:nvPr/>
      </p:nvGrpSpPr>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OPTIMIZATION ENGINE</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ROUTE OPTIMIZATION</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6</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The optimizer combines bin priority, distance, traffic or travel-time estimates, vehicle capacity, and depot location. It can generate routes that visit high-priority bins first while reducing total travel distance.</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1226"/>
        </a:solidFill>
        <a:effectLst/>
      </p:bgPr>
    </p:bg>
    <p:spTree>
      <p:nvGrpSpPr>
        <p:cNvPr id="1" name=""/>
        <p:cNvGrpSpPr/>
        <p:nvPr/>
      </p:nvGrpSpPr>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FLEET CONTROL</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VEHICLE &amp; CAPACITY MANAGEMENT</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7</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Each collection vehicle has a defined capacity and current load. The system assigns bins to vehicles while considering route feasibility. When a vehicle approaches capacity, the route can include a disposal/depot stop before continuing.</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1226"/>
        </a:solidFill>
        <a:effectLst/>
      </p:bgPr>
    </p:bg>
    <p:spTree>
      <p:nvGrpSpPr>
        <p:cNvPr id="1" name=""/>
        <p:cNvGrpSpPr/>
        <p:nvPr/>
      </p:nvGrpSpPr>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TECHNOLOGY STACK</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SYSTEM ARCHITECTURE</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8</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1. Sensing Layer – smart bins and GPS devices
2. Communication Layer – cellular/LoRa/Wi-Fi connectivity
3. Cloud / Processing Layer – database and route optimizer
4. Application Layer – municipal dashboard and driver interface</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1226"/>
        </a:solidFill>
        <a:effectLst/>
      </p:bgPr>
    </p:bg>
    <p:spTree>
      <p:nvGrpSpPr>
        <p:cNvPr id="1" name=""/>
        <p:cNvGrpSpPr/>
        <p:nvPr/>
      </p:nvGrpSpPr>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DAILY COLLECTION CYCLE</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OPERATIONAL WORKFLOW</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9</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STEP 01  Collect bin fill-level and location data
STEP 02  Rank bins by urgency and service need
STEP 03  Check vehicle locations and capacities
STEP 04  Generate optimized collection routes
STEP 05  Dispatch routes and track progress
STEP 06  Record completion data for future planning</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1226"/>
        </a:solidFill>
        <a:effectLst/>
      </p:bgPr>
    </p:bg>
    <p:spTree>
      <p:nvGrpSpPr>
        <p:cNvPr id="1" name=""/>
        <p:cNvGrpSpPr/>
        <p:nvPr/>
      </p:nvGrpSpPr>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MEASUREMENT FRAMEWORK</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BENEFITS &amp; PERFORMANCE METRICS</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10</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Potential measurable outcomes include reduced route distance, lower fuel consumption, fewer overflow incidents, improved on-time pickup, higher vehicle utilization, and better visibility for municipal supervisors.</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1226"/>
        </a:solidFill>
        <a:effectLst/>
      </p:bgPr>
    </p:bg>
    <p:spTree>
      <p:nvGrpSpPr>
        <p:cNvPr id="1" name=""/>
        <p:cNvGrpSpPr/>
        <p:nvPr/>
      </p:nvGrpSpPr>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DEPLOYMENT ROADMAP</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IMPLEMENTATION &amp; FUTURE SCOPE</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11</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Phase 1: Pilot smart bins and GPS tracking in a selected zone.
Phase 2: Integrate route optimization and municipal dashboard.
Phase 3: Expand city-wide and use historical data for demand forecasting.
Future scope: dynamic routing, predictive fill-level forecasting, citizen alerts, and analytics for waste-generation patterns.</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1226"/>
        </a:solidFill>
        <a:effectLst/>
      </p:bgPr>
    </p:bg>
    <p:spTree>
      <p:nvGrpSpPr>
        <p:cNvPr id="1" name=""/>
        <p:cNvGrpSpPr/>
        <p:nvPr/>
      </p:nvGrpSpPr>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SMARTER COLLECTION • CLEANER CITIES</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CONCLUSION</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12</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FINAL TAKEAWAY</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The Municipal Waste Collection Optimizer combines IoT monitoring, route optimization, and fleet management to make waste collection more responsive and data-driven. By collecting only when and where service is needed, municipalities can improve operational efficiency and service reliability.</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1226"/>
        </a:solidFill>
        <a:effectLst/>
      </p:bgPr>
    </p:bg>
    <p:spTree>
      <p:nvGrpSpPr>
        <p:cNvPr id="1" name=""/>
        <p:cNvGrpSpPr/>
        <p:nvPr/>
      </p:nvGrpSpPr>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74519"/>
            <a:ext cx="9692640" cy="822960"/>
          </a:xfrm>
          <a:prstGeom prst="rect">
            <a:avLst/>
          </a:prstGeom>
          <a:noFill/>
        </p:spPr>
        <p:txBody>
          <a:bodyPr wrap="square">
            <a:spAutoFit/>
          </a:bodyPr>
          <a:lstStyle/>
          <a:p>
            <a:pPr algn="ctr"/>
            <a:r>
              <a:rPr sz="4200" b="1">
                <a:solidFill>
                  <a:srgbClr val="31D0E2"/>
                </a:solidFill>
                <a:latin typeface="Aptos"/>
              </a:rPr>
              <a:t>THANK YOU</a:t>
            </a:r>
          </a:p>
        </p:txBody>
      </p:sp>
      <p:sp>
        <p:nvSpPr>
          <p:cNvPr id="5" name="TextBox 4"/>
          <p:cNvSpPr txBox="1"/>
          <p:nvPr/>
        </p:nvSpPr>
        <p:spPr>
          <a:xfrm>
            <a:off x="640080" y="2788920"/>
            <a:ext cx="9692640" cy="502920"/>
          </a:xfrm>
          <a:prstGeom prst="rect">
            <a:avLst/>
          </a:prstGeom>
          <a:noFill/>
        </p:spPr>
        <p:txBody>
          <a:bodyPr wrap="square">
            <a:spAutoFit/>
          </a:bodyPr>
          <a:lstStyle/>
          <a:p>
            <a:pPr algn="ctr"/>
            <a:r>
              <a:rPr sz="2000" b="0">
                <a:solidFill>
                  <a:srgbClr val="F5F8FC"/>
                </a:solidFill>
                <a:latin typeface="Aptos"/>
              </a:rPr>
              <a:t>Questions &amp; Discussion</a:t>
            </a:r>
          </a:p>
        </p:txBody>
      </p:sp>
      <p:sp>
        <p:nvSpPr>
          <p:cNvPr id="6" name="TextBox 5"/>
          <p:cNvSpPr txBox="1"/>
          <p:nvPr/>
        </p:nvSpPr>
        <p:spPr>
          <a:xfrm>
            <a:off x="640080" y="3703320"/>
            <a:ext cx="9692640" cy="365760"/>
          </a:xfrm>
          <a:prstGeom prst="rect">
            <a:avLst/>
          </a:prstGeom>
          <a:noFill/>
        </p:spPr>
        <p:txBody>
          <a:bodyPr wrap="square">
            <a:spAutoFit/>
          </a:bodyPr>
          <a:lstStyle/>
          <a:p>
            <a:pPr algn="ctr"/>
            <a:r>
              <a:rPr sz="1200" b="1">
                <a:solidFill>
                  <a:srgbClr val="A4B4C6"/>
                </a:solidFill>
                <a:latin typeface="Aptos"/>
              </a:rPr>
              <a:t>MUNICIPAL WASTE COLLECTION OPTIMIZER</a:t>
            </a:r>
          </a:p>
        </p:txBody>
      </p:sp>
      <p:sp>
        <p:nvSpPr>
          <p:cNvPr id="7" name="TextBox 6"/>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