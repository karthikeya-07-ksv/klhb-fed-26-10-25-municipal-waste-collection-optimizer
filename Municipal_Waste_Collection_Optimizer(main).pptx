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F8205-3649-4CC3-91B6-1BFE05C4BC35}" v="6" dt="2026-09-22T05:39:02.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55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vesh kondepati" userId="754dcf752ee60859" providerId="LiveId" clId="{A40EBB7F-8A3C-4517-A2C1-50CACB3909CD}"/>
    <pc:docChg chg="undo custSel addSld delSld modSld sldOrd">
      <pc:chgData name="sarvesh kondepati" userId="754dcf752ee60859" providerId="LiveId" clId="{A40EBB7F-8A3C-4517-A2C1-50CACB3909CD}" dt="2026-09-22T09:36:41.412" v="158" actId="2696"/>
      <pc:docMkLst>
        <pc:docMk/>
      </pc:docMkLst>
      <pc:sldChg chg="addSp delSp modSp mod ord">
        <pc:chgData name="sarvesh kondepati" userId="754dcf752ee60859" providerId="LiveId" clId="{A40EBB7F-8A3C-4517-A2C1-50CACB3909CD}" dt="2026-09-22T05:39:54.555" v="157"/>
        <pc:sldMkLst>
          <pc:docMk/>
          <pc:sldMk cId="0" sldId="257"/>
        </pc:sldMkLst>
        <pc:spChg chg="add del mod">
          <ac:chgData name="sarvesh kondepati" userId="754dcf752ee60859" providerId="LiveId" clId="{A40EBB7F-8A3C-4517-A2C1-50CACB3909CD}" dt="2026-09-22T05:38:57.494" v="144" actId="20577"/>
          <ac:spMkLst>
            <pc:docMk/>
            <pc:sldMk cId="0" sldId="257"/>
            <ac:spMk id="9" creationId="{00000000-0000-0000-0000-000000000000}"/>
          </ac:spMkLst>
        </pc:spChg>
        <pc:spChg chg="add del mod">
          <ac:chgData name="sarvesh kondepati" userId="754dcf752ee60859" providerId="LiveId" clId="{A40EBB7F-8A3C-4517-A2C1-50CACB3909CD}" dt="2026-09-22T05:38:59.366" v="148" actId="1076"/>
          <ac:spMkLst>
            <pc:docMk/>
            <pc:sldMk cId="0" sldId="257"/>
            <ac:spMk id="10" creationId="{00000000-0000-0000-0000-000000000000}"/>
          </ac:spMkLst>
        </pc:spChg>
        <pc:spChg chg="mod">
          <ac:chgData name="sarvesh kondepati" userId="754dcf752ee60859" providerId="LiveId" clId="{A40EBB7F-8A3C-4517-A2C1-50CACB3909CD}" dt="2026-09-22T05:39:00.320" v="150" actId="1076"/>
          <ac:spMkLst>
            <pc:docMk/>
            <pc:sldMk cId="0" sldId="257"/>
            <ac:spMk id="11" creationId="{00000000-0000-0000-0000-000000000000}"/>
          </ac:spMkLst>
        </pc:spChg>
        <pc:spChg chg="add del mod">
          <ac:chgData name="sarvesh kondepati" userId="754dcf752ee60859" providerId="LiveId" clId="{A40EBB7F-8A3C-4517-A2C1-50CACB3909CD}" dt="2026-09-22T05:39:02.054" v="153" actId="767"/>
          <ac:spMkLst>
            <pc:docMk/>
            <pc:sldMk cId="0" sldId="257"/>
            <ac:spMk id="13" creationId="{ED1704E2-33EB-1E67-BA3F-2056AF26E2F6}"/>
          </ac:spMkLst>
        </pc:spChg>
      </pc:sldChg>
      <pc:sldChg chg="addSp delSp modSp new del mod modClrScheme chgLayout">
        <pc:chgData name="sarvesh kondepati" userId="754dcf752ee60859" providerId="LiveId" clId="{A40EBB7F-8A3C-4517-A2C1-50CACB3909CD}" dt="2026-09-22T09:36:41.412" v="158" actId="2696"/>
        <pc:sldMkLst>
          <pc:docMk/>
          <pc:sldMk cId="1147295350" sldId="270"/>
        </pc:sldMkLst>
        <pc:spChg chg="add del mod">
          <ac:chgData name="sarvesh kondepati" userId="754dcf752ee60859" providerId="LiveId" clId="{A40EBB7F-8A3C-4517-A2C1-50CACB3909CD}" dt="2026-09-22T05:17:23.478" v="97" actId="21"/>
          <ac:spMkLst>
            <pc:docMk/>
            <pc:sldMk cId="1147295350" sldId="270"/>
            <ac:spMk id="2" creationId="{B38F3F5E-D9E0-6C63-4AE8-D0648F465F5C}"/>
          </ac:spMkLst>
        </pc:spChg>
        <pc:spChg chg="add mod">
          <ac:chgData name="sarvesh kondepati" userId="754dcf752ee60859" providerId="LiveId" clId="{A40EBB7F-8A3C-4517-A2C1-50CACB3909CD}" dt="2026-09-22T05:18:09.384" v="124" actId="255"/>
          <ac:spMkLst>
            <pc:docMk/>
            <pc:sldMk cId="1147295350" sldId="270"/>
            <ac:spMk id="4" creationId="{6CBFDDE7-6CA8-6AF9-D1CA-6BB26CEDC52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212237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083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9/22/2026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549630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9/22/2026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76061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185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49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9/22/2026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42630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364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804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117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9/22/2026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736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9/22/2026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157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750612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9/22/2026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829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1175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9/22/2026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9775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9546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0094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304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3695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66994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9/22/2026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9084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9/22/2026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7029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048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9/22/2026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26389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05312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1163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9/22/2026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13533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85800"/>
            <a:ext cx="9875520" cy="640080"/>
          </a:xfrm>
          <a:prstGeom prst="rect">
            <a:avLst/>
          </a:prstGeom>
          <a:noFill/>
        </p:spPr>
        <p:txBody>
          <a:bodyPr wrap="square">
            <a:spAutoFit/>
          </a:bodyPr>
          <a:lstStyle/>
          <a:p>
            <a:pPr algn="l"/>
            <a:r>
              <a:rPr sz="3000" b="1">
                <a:solidFill>
                  <a:srgbClr val="F5F8FC"/>
                </a:solidFill>
                <a:latin typeface="Aptos"/>
              </a:rPr>
              <a:t>MUNICIPAL WASTE COLLECTION</a:t>
            </a:r>
          </a:p>
        </p:txBody>
      </p:sp>
      <p:sp>
        <p:nvSpPr>
          <p:cNvPr id="5" name="TextBox 4"/>
          <p:cNvSpPr txBox="1"/>
          <p:nvPr/>
        </p:nvSpPr>
        <p:spPr>
          <a:xfrm>
            <a:off x="640080" y="1298448"/>
            <a:ext cx="9875520" cy="640080"/>
          </a:xfrm>
          <a:prstGeom prst="rect">
            <a:avLst/>
          </a:prstGeom>
          <a:noFill/>
        </p:spPr>
        <p:txBody>
          <a:bodyPr wrap="square">
            <a:spAutoFit/>
          </a:bodyPr>
          <a:lstStyle/>
          <a:p>
            <a:pPr algn="l"/>
            <a:r>
              <a:rPr sz="3400" b="1">
                <a:solidFill>
                  <a:srgbClr val="31D0E2"/>
                </a:solidFill>
                <a:latin typeface="Aptos"/>
              </a:rPr>
              <a:t>OPTIMIZER</a:t>
            </a:r>
          </a:p>
        </p:txBody>
      </p:sp>
      <p:sp>
        <p:nvSpPr>
          <p:cNvPr id="6" name="TextBox 5"/>
          <p:cNvSpPr txBox="1"/>
          <p:nvPr/>
        </p:nvSpPr>
        <p:spPr>
          <a:xfrm>
            <a:off x="640080" y="1965960"/>
            <a:ext cx="8686800" cy="320040"/>
          </a:xfrm>
          <a:prstGeom prst="rect">
            <a:avLst/>
          </a:prstGeom>
          <a:noFill/>
        </p:spPr>
        <p:txBody>
          <a:bodyPr wrap="square">
            <a:spAutoFit/>
          </a:bodyPr>
          <a:lstStyle/>
          <a:p>
            <a:pPr algn="l"/>
            <a:r>
              <a:rPr sz="1200" b="1">
                <a:solidFill>
                  <a:srgbClr val="A4B4C6"/>
                </a:solidFill>
                <a:latin typeface="Aptos"/>
              </a:rPr>
              <a:t>SMART CITY • IOT • ROUTE OPTIMIZATION</a:t>
            </a:r>
          </a:p>
        </p:txBody>
      </p:sp>
      <p:sp>
        <p:nvSpPr>
          <p:cNvPr id="7" name="Rounded Rectangle 6"/>
          <p:cNvSpPr/>
          <p:nvPr/>
        </p:nvSpPr>
        <p:spPr>
          <a:xfrm>
            <a:off x="640080" y="2788920"/>
            <a:ext cx="8046720" cy="201168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063240"/>
            <a:ext cx="2743200" cy="274320"/>
          </a:xfrm>
          <a:prstGeom prst="rect">
            <a:avLst/>
          </a:prstGeom>
          <a:noFill/>
        </p:spPr>
        <p:txBody>
          <a:bodyPr wrap="square">
            <a:spAutoFit/>
          </a:bodyPr>
          <a:lstStyle/>
          <a:p>
            <a:pPr algn="l"/>
            <a:r>
              <a:rPr sz="1200" b="1">
                <a:solidFill>
                  <a:srgbClr val="31D0E2"/>
                </a:solidFill>
                <a:latin typeface="Aptos"/>
              </a:rPr>
              <a:t>TEAM MEMBERS</a:t>
            </a:r>
          </a:p>
        </p:txBody>
      </p:sp>
      <p:sp>
        <p:nvSpPr>
          <p:cNvPr id="9" name="TextBox 8"/>
          <p:cNvSpPr txBox="1"/>
          <p:nvPr/>
        </p:nvSpPr>
        <p:spPr>
          <a:xfrm>
            <a:off x="820615" y="3337560"/>
            <a:ext cx="7040880" cy="923330"/>
          </a:xfrm>
          <a:prstGeom prst="rect">
            <a:avLst/>
          </a:prstGeom>
          <a:noFill/>
        </p:spPr>
        <p:txBody>
          <a:bodyPr wrap="square">
            <a:spAutoFit/>
          </a:bodyPr>
          <a:lstStyle/>
          <a:p>
            <a:pPr algn="l"/>
            <a:r>
              <a:rPr sz="1800" b="0" dirty="0">
                <a:solidFill>
                  <a:srgbClr val="F5F8FC"/>
                </a:solidFill>
                <a:latin typeface="Aptos"/>
              </a:rPr>
              <a:t>Member 1 –</a:t>
            </a:r>
            <a:r>
              <a:rPr lang="en-US" sz="1800" b="0" dirty="0">
                <a:solidFill>
                  <a:srgbClr val="F5F8FC"/>
                </a:solidFill>
                <a:latin typeface="Aptos"/>
              </a:rPr>
              <a:t> 2620030618 KSV KARTHIKEYA</a:t>
            </a:r>
            <a:r>
              <a:rPr sz="1800" b="0" dirty="0">
                <a:solidFill>
                  <a:srgbClr val="F5F8FC"/>
                </a:solidFill>
                <a:latin typeface="Aptos"/>
              </a:rPr>
              <a:t>
Member 2 – </a:t>
            </a:r>
            <a:r>
              <a:rPr lang="en-US" dirty="0">
                <a:solidFill>
                  <a:srgbClr val="F5F8FC"/>
                </a:solidFill>
                <a:latin typeface="Aptos"/>
              </a:rPr>
              <a:t>2620040172 M.YAGNA KUSHAL</a:t>
            </a:r>
            <a:r>
              <a:rPr sz="1800" b="0" dirty="0">
                <a:solidFill>
                  <a:srgbClr val="F5F8FC"/>
                </a:solidFill>
                <a:latin typeface="Aptos"/>
              </a:rPr>
              <a:t>
Member 3 – </a:t>
            </a:r>
            <a:r>
              <a:rPr lang="en-US" dirty="0">
                <a:solidFill>
                  <a:srgbClr val="F5F8FC"/>
                </a:solidFill>
                <a:latin typeface="Aptos"/>
              </a:rPr>
              <a:t>2620040067 SARVESH CHOWDARY.K</a:t>
            </a:r>
            <a:endParaRPr sz="1800" b="0" dirty="0">
              <a:solidFill>
                <a:srgbClr val="F5F8FC"/>
              </a:solidFill>
              <a:latin typeface="Aptos"/>
            </a:endParaRPr>
          </a:p>
        </p:txBody>
      </p:sp>
      <p:sp>
        <p:nvSpPr>
          <p:cNvPr id="10" name="TextBox 9"/>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WHY OPTIMIZATION MATTERS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PROBLEM STATEMENT</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dirty="0">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dirty="0">
                <a:solidFill>
                  <a:srgbClr val="F5F8FC"/>
                </a:solidFill>
                <a:latin typeface="Aptos"/>
              </a:rPr>
              <a:t>Municipal waste collection often relies on fixed routes and schedules, causing unnecessary travel, overflowing bins, missed pickups, fuel consumption, and limited visibility into collection status.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PROJECT CONCEPT</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PROJECT TITLE &amp; INTRODUCTION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2</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Municipal Waste Collection Optimizer is a smart city solution that uses bin-level data, route optimization, and a central dashboard to plan efficient collection journeys. It prioritizes bins by fill level, location, urgency, and available vehicle capacity.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KEY GOALS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OBJECTIVES</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3</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 Reduce unnecessary vehicle travel and fuel use
• Prevent overflowing bins through priority-based pickup
• Improve vehicle utilization and collection coverage
• Provide real-time visibility of bin and vehicle status
• Support better municipal planning using collected data</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END-TO-END WORKFLOW</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SYSTEM OVERVIEW</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4</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system connects smart waste bins, GPS-enabled collection vehicles, a communication layer, an optimization engine, and a municipal dashboard. Data flows from field devices to the optimizer, which generates practical collection routes.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IOT DATA LAYER</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SMART BIN MONITORING</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5</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Ultrasonic or fill-level sensors estimate the amount of waste in each bin. Location and status data are transmitted periodically so the municipality can identify bins that need attention instead of checking every location manually.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OPTIMIZATION ENGINE</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ROUTE OPTIMIZATION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6</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optimizer combines bin priority, distance, traffic or travel-time estimates, vehicle capacity, and depot location. It can generate routes that visit high-priority bins first while reducing total travel distance.</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FLEET CONTROL</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VEHICLE &amp; CAPACITY MANAGEMENT</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7</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Each collection vehicle has a defined capacity and current load. The system assigns bins to vehicles while considering route feasibility. When a vehicle approaches capacity, the route can include a disposal/depot stop before continuing.</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TECHNOLOGY STACK</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SYSTEM ARCHITECTURE</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8</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1. Sensing Layer – smart bins and GPS devices
2. Communication Layer – cellular/LoRa/Wi-Fi connectivity
3. Cloud / Processing Layer – database and route optimizer
4. Application Layer – municipal dashboard and driver interface</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DAILY COLLECTION CYCLE</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OPERATIONAL WORKFLOW</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9</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dirty="0">
                <a:solidFill>
                  <a:srgbClr val="F5F8FC"/>
                </a:solidFill>
                <a:latin typeface="Aptos"/>
              </a:rPr>
              <a:t>STEP 01  Collect bin fill-level and location data
STEP 02  Rank bins by urgency and service need
STEP 03  Check vehicle locations and capacities
STEP 04  Generate optimized collection routes
STEP 05  Dispatch routes and track progress
STEP 06  Record completion data for future planning</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MEASUREMENT FRAMEWORK</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BENEFITS &amp; PERFORMANCE METRICS</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10</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Potential measurable outcomes include reduced route distance, lower fuel consumption, fewer overflow incidents, improved on-time pickup, higher vehicle utilization, and better visibility for municipal supervisors.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DEPLOYMENT ROADMAP</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IMPLEMENTATION &amp; FUTURE SCOPE</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11</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PROJECT EXPLANATION</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Phase 1: Pilot smart bins and GPS tracking in a selected zone.
Phase 2: Integrate route optimization and municipal dashboard.
Phase 3: Expand city-wide and use historical data for demand forecasting.
Future scope: dynamic routing, predictive fill-level forecasting, citizen alerts, and analytics for waste-generation patterns.</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8961120" cy="320040"/>
          </a:xfrm>
          <a:prstGeom prst="rect">
            <a:avLst/>
          </a:prstGeom>
          <a:noFill/>
        </p:spPr>
        <p:txBody>
          <a:bodyPr wrap="square">
            <a:spAutoFit/>
          </a:bodyPr>
          <a:lstStyle/>
          <a:p>
            <a:pPr algn="l"/>
            <a:r>
              <a:rPr sz="1100" b="1">
                <a:solidFill>
                  <a:srgbClr val="31D0E2"/>
                </a:solidFill>
                <a:latin typeface="Aptos"/>
              </a:rPr>
              <a:t>SMARTER COLLECTION • CLEANER CITIES</a:t>
            </a:r>
          </a:p>
        </p:txBody>
      </p:sp>
      <p:sp>
        <p:nvSpPr>
          <p:cNvPr id="5" name="TextBox 4"/>
          <p:cNvSpPr txBox="1"/>
          <p:nvPr/>
        </p:nvSpPr>
        <p:spPr>
          <a:xfrm>
            <a:off x="594360" y="804672"/>
            <a:ext cx="9875520" cy="868680"/>
          </a:xfrm>
          <a:prstGeom prst="rect">
            <a:avLst/>
          </a:prstGeom>
          <a:noFill/>
        </p:spPr>
        <p:txBody>
          <a:bodyPr wrap="square">
            <a:spAutoFit/>
          </a:bodyPr>
          <a:lstStyle/>
          <a:p>
            <a:pPr algn="l"/>
            <a:r>
              <a:rPr sz="2800" b="1">
                <a:solidFill>
                  <a:srgbClr val="F5F8FC"/>
                </a:solidFill>
                <a:latin typeface="Aptos"/>
              </a:rPr>
              <a:t>CONCLUSION</a:t>
            </a:r>
          </a:p>
        </p:txBody>
      </p:sp>
      <p:sp>
        <p:nvSpPr>
          <p:cNvPr id="6" name="Rectangle 5"/>
          <p:cNvSpPr/>
          <p:nvPr/>
        </p:nvSpPr>
        <p:spPr>
          <a:xfrm>
            <a:off x="594360" y="1691640"/>
            <a:ext cx="914400" cy="5029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61320" y="914400"/>
            <a:ext cx="438912" cy="438912"/>
          </a:xfrm>
          <a:prstGeom prst="ellipse">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61320" y="987552"/>
            <a:ext cx="438912" cy="201168"/>
          </a:xfrm>
          <a:prstGeom prst="rect">
            <a:avLst/>
          </a:prstGeom>
          <a:noFill/>
        </p:spPr>
        <p:txBody>
          <a:bodyPr wrap="square">
            <a:spAutoFit/>
          </a:bodyPr>
          <a:lstStyle/>
          <a:p>
            <a:pPr algn="ctr"/>
            <a:r>
              <a:rPr sz="1000" b="1">
                <a:solidFill>
                  <a:srgbClr val="071226"/>
                </a:solidFill>
                <a:latin typeface="Aptos"/>
              </a:rPr>
              <a:t>12</a:t>
            </a:r>
          </a:p>
        </p:txBody>
      </p:sp>
      <p:sp>
        <p:nvSpPr>
          <p:cNvPr id="9" name="Rounded Rectangle 8"/>
          <p:cNvSpPr/>
          <p:nvPr/>
        </p:nvSpPr>
        <p:spPr>
          <a:xfrm>
            <a:off x="594360" y="2057400"/>
            <a:ext cx="9875520" cy="3337560"/>
          </a:xfrm>
          <a:prstGeom prst="roundRect">
            <a:avLst/>
          </a:prstGeom>
          <a:solidFill>
            <a:srgbClr val="0C1D37"/>
          </a:solidFill>
          <a:ln>
            <a:solidFill>
              <a:srgbClr val="1B36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331720"/>
            <a:ext cx="4114800" cy="320040"/>
          </a:xfrm>
          <a:prstGeom prst="rect">
            <a:avLst/>
          </a:prstGeom>
          <a:noFill/>
        </p:spPr>
        <p:txBody>
          <a:bodyPr wrap="square">
            <a:spAutoFit/>
          </a:bodyPr>
          <a:lstStyle/>
          <a:p>
            <a:pPr algn="l"/>
            <a:r>
              <a:rPr sz="1200" b="1">
                <a:solidFill>
                  <a:srgbClr val="31D0E2"/>
                </a:solidFill>
                <a:latin typeface="Aptos"/>
              </a:rPr>
              <a:t>FINAL TAKEAWAY</a:t>
            </a:r>
          </a:p>
        </p:txBody>
      </p:sp>
      <p:sp>
        <p:nvSpPr>
          <p:cNvPr id="11" name="TextBox 10"/>
          <p:cNvSpPr txBox="1"/>
          <p:nvPr/>
        </p:nvSpPr>
        <p:spPr>
          <a:xfrm>
            <a:off x="868680" y="2788920"/>
            <a:ext cx="9006840" cy="2194560"/>
          </a:xfrm>
          <a:prstGeom prst="rect">
            <a:avLst/>
          </a:prstGeom>
          <a:noFill/>
        </p:spPr>
        <p:txBody>
          <a:bodyPr wrap="square">
            <a:spAutoFit/>
          </a:bodyPr>
          <a:lstStyle/>
          <a:p>
            <a:pPr algn="l"/>
            <a:r>
              <a:rPr sz="1900" b="0">
                <a:solidFill>
                  <a:srgbClr val="F5F8FC"/>
                </a:solidFill>
                <a:latin typeface="Aptos"/>
              </a:rPr>
              <a:t>The Municipal Waste Collection Optimizer combines IoT monitoring, route optimization, and fleet management to make waste collection more responsive and data-driven. By collecting only when and where service is needed, municipalities can improve operational efficiency and service reliability.</a:t>
            </a:r>
          </a:p>
        </p:txBody>
      </p:sp>
      <p:sp>
        <p:nvSpPr>
          <p:cNvPr id="12" name="TextBox 11"/>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31D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27080" y="73152"/>
            <a:ext cx="1261872" cy="6784848"/>
          </a:xfrm>
          <a:prstGeom prst="rect">
            <a:avLst/>
          </a:prstGeom>
          <a:solidFill>
            <a:srgbClr val="0C1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9692640" cy="822960"/>
          </a:xfrm>
          <a:prstGeom prst="rect">
            <a:avLst/>
          </a:prstGeom>
          <a:noFill/>
        </p:spPr>
        <p:txBody>
          <a:bodyPr wrap="square">
            <a:spAutoFit/>
          </a:bodyPr>
          <a:lstStyle/>
          <a:p>
            <a:pPr algn="ctr"/>
            <a:r>
              <a:rPr sz="4200" b="1">
                <a:solidFill>
                  <a:srgbClr val="31D0E2"/>
                </a:solidFill>
                <a:latin typeface="Aptos"/>
              </a:rPr>
              <a:t>THANK YOU</a:t>
            </a:r>
          </a:p>
        </p:txBody>
      </p:sp>
      <p:sp>
        <p:nvSpPr>
          <p:cNvPr id="5" name="TextBox 4"/>
          <p:cNvSpPr txBox="1"/>
          <p:nvPr/>
        </p:nvSpPr>
        <p:spPr>
          <a:xfrm>
            <a:off x="640080" y="2788920"/>
            <a:ext cx="9692640" cy="502920"/>
          </a:xfrm>
          <a:prstGeom prst="rect">
            <a:avLst/>
          </a:prstGeom>
          <a:noFill/>
        </p:spPr>
        <p:txBody>
          <a:bodyPr wrap="square">
            <a:spAutoFit/>
          </a:bodyPr>
          <a:lstStyle/>
          <a:p>
            <a:pPr algn="ctr"/>
            <a:r>
              <a:rPr sz="2000" b="0">
                <a:solidFill>
                  <a:srgbClr val="F5F8FC"/>
                </a:solidFill>
                <a:latin typeface="Aptos"/>
              </a:rPr>
              <a:t>Questions &amp; Discussion</a:t>
            </a:r>
          </a:p>
        </p:txBody>
      </p:sp>
      <p:sp>
        <p:nvSpPr>
          <p:cNvPr id="6" name="TextBox 5"/>
          <p:cNvSpPr txBox="1"/>
          <p:nvPr/>
        </p:nvSpPr>
        <p:spPr>
          <a:xfrm>
            <a:off x="640080" y="3703320"/>
            <a:ext cx="9692640" cy="365760"/>
          </a:xfrm>
          <a:prstGeom prst="rect">
            <a:avLst/>
          </a:prstGeom>
          <a:noFill/>
        </p:spPr>
        <p:txBody>
          <a:bodyPr wrap="square">
            <a:spAutoFit/>
          </a:bodyPr>
          <a:lstStyle/>
          <a:p>
            <a:pPr algn="ctr"/>
            <a:r>
              <a:rPr sz="1200" b="1">
                <a:solidFill>
                  <a:srgbClr val="A4B4C6"/>
                </a:solidFill>
                <a:latin typeface="Aptos"/>
              </a:rPr>
              <a:t>MUNICIPAL WASTE COLLECTION OPTIMIZER</a:t>
            </a:r>
          </a:p>
        </p:txBody>
      </p:sp>
      <p:sp>
        <p:nvSpPr>
          <p:cNvPr id="7" name="TextBox 6"/>
          <p:cNvSpPr txBox="1"/>
          <p:nvPr/>
        </p:nvSpPr>
        <p:spPr>
          <a:xfrm>
            <a:off x="11137392" y="6144768"/>
            <a:ext cx="457200" cy="228600"/>
          </a:xfrm>
          <a:prstGeom prst="rect">
            <a:avLst/>
          </a:prstGeom>
          <a:noFill/>
        </p:spPr>
        <p:txBody>
          <a:bodyPr wrap="square">
            <a:spAutoFit/>
          </a:bodyPr>
          <a:lstStyle/>
          <a:p>
            <a:pPr algn="ctr"/>
            <a:r>
              <a:rPr sz="900" b="1">
                <a:solidFill>
                  <a:srgbClr val="A4B4C6"/>
                </a:solidFill>
                <a:latin typeface="Aptos"/>
              </a:rPr>
              <a:t>13</a:t>
            </a:r>
          </a:p>
        </p:txBody>
      </p:sp>
    </p:spTree>
  </p:cSld>
  <p:clrMapOvr>
    <a:masterClrMapping/>
  </p:clrMapOvr>
</p:sld>
</file>

<file path=ppt/theme/theme1.xml><?xml version="1.0" encoding="utf-8"?>
<a:theme xmlns:a="http://schemas.openxmlformats.org/drawingml/2006/main" name="Dark Gradien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42</TotalTime>
  <Words>653</Words>
  <Application>Microsoft Office PowerPoint</Application>
  <PresentationFormat>Widescreen</PresentationFormat>
  <Paragraphs>82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Arial Nova Light</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sarvesh kondepati</dc:creator>
  <cp:keywords/>
  <dc:description>generated using python-pptx</dc:description>
  <cp:lastModifiedBy>sarvesh kondepati</cp:lastModifiedBy>
  <cp:revision>2</cp:revision>
  <dcterms:created xsi:type="dcterms:W3CDTF">2013-01-27T09:14:16Z</dcterms:created>
  <dcterms:modified xsi:type="dcterms:W3CDTF">2026-09-22T09:36:43Z</dcterms:modified>
  <cp:category/>
</cp:coreProperties>
</file>